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5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15 Tests – Results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80-4673-996D-3D6538892856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80-4673-996D-3D6538892856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D380-4673-996D-3D6538892856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D380-4673-996D-3D653889285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Passed (14)</c:v>
                </c:pt>
                <c:pt idx="1">
                  <c:v>Intentional Fail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80-4673-996D-3D65388928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Tests by Scope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Scope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Booking</c:v>
                </c:pt>
                <c:pt idx="1">
                  <c:v>Exception</c:v>
                </c:pt>
                <c:pt idx="2">
                  <c:v>Notification</c:v>
                </c:pt>
                <c:pt idx="3">
                  <c:v>Maintenance</c:v>
                </c:pt>
                <c:pt idx="4">
                  <c:v>Factory</c:v>
                </c:pt>
                <c:pt idx="5">
                  <c:v>Auth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1F-4E3D-8B2B-664E45666E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457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215B-83A9-06E5-1B25-362576AE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382C9-7F9B-D32C-B5A1-A1E924E11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BEE53-54D5-CDF8-A159-1A541CBF5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06505-B981-EC46-A81B-32D70DFDE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27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8C380-4627-82C0-4BB5-FE314FA5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88DC2-6E7E-6A28-C5BA-2B94FEF32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78BB9-C138-9995-C716-31F566D46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09F1-8656-2EDA-3D8B-DA63D0BF8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36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4472C4">
              <a:alpha val="30000"/>
            </a:srgbClr>
          </a:solidFill>
          <a:ln w="12700">
            <a:solidFill>
              <a:srgbClr val="4472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0" cy="44805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502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 Metropolitan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SCMS – A Java-Based Software Prototype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2011680" cy="56692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54787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 VS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80360" y="3520440"/>
            <a:ext cx="2011680" cy="566928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0" y="354787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JDK 21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5908766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7239" y="4178808"/>
            <a:ext cx="6298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Video Link: [https://drive.google.com/drive/u/1/folders/1wSv0TPZgTMRe_c3nLs5cSfhLfat-qD_R]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Turniting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 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1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Developent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Overview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in SCMS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Implemented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352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Strategy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Analysis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916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0352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Lessons Learned</a:t>
            </a:r>
            <a:endParaRPr lang="en-US" sz="13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D74F6E7-CDB1-FC4C-BD9A-5DCF173BF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905256"/>
            <a:ext cx="9034272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0F7E8-F406-205C-4AA8-39876CB0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44865A-93C1-AE09-93E0-DAE137623D4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E7ECE6-9B49-5184-A0B8-631CD3D81CF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2F4B78-5AAC-976A-D92F-87A7467B3EAF}"/>
              </a:ext>
            </a:extLst>
          </p:cNvPr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Turnitin Digital Receipt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83983E-9DDD-2DAB-7B4F-497BF45B7979}"/>
              </a:ext>
            </a:extLst>
          </p:cNvPr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C11BF6-CFFD-1DFC-388E-5E9B22F35A7F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18762B5-9785-81F3-FE92-7B4625B7B565}"/>
              </a:ext>
            </a:extLst>
          </p:cNvPr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8C0FBA-E45A-1BED-7EC3-FBF9E741619C}"/>
              </a:ext>
            </a:extLst>
          </p:cNvPr>
          <p:cNvSpPr/>
          <p:nvPr/>
        </p:nvSpPr>
        <p:spPr>
          <a:xfrm>
            <a:off x="82296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51871D7-9D03-AFA1-BC54-1743C016B8C2}"/>
              </a:ext>
            </a:extLst>
          </p:cNvPr>
          <p:cNvSpPr/>
          <p:nvPr/>
        </p:nvSpPr>
        <p:spPr>
          <a:xfrm>
            <a:off x="182881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0C94F9E-9CD4-FF59-1D34-9959B77F89B2}"/>
              </a:ext>
            </a:extLst>
          </p:cNvPr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9E866BA-B056-83A7-7F12-AF58B3318FB4}"/>
              </a:ext>
            </a:extLst>
          </p:cNvPr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3E47379-42F9-E81B-A432-267E6FF73FAB}"/>
              </a:ext>
            </a:extLst>
          </p:cNvPr>
          <p:cNvSpPr/>
          <p:nvPr/>
        </p:nvSpPr>
        <p:spPr>
          <a:xfrm>
            <a:off x="82296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Developent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Environment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5E75CB0-2A1C-E75A-241B-CA340BD42396}"/>
              </a:ext>
            </a:extLst>
          </p:cNvPr>
          <p:cNvSpPr/>
          <p:nvPr/>
        </p:nvSpPr>
        <p:spPr>
          <a:xfrm>
            <a:off x="22860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0700C98-4851-C80B-D19C-03C0E92D1ACE}"/>
              </a:ext>
            </a:extLst>
          </p:cNvPr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DF6EA03-C761-96EC-8E9E-A56EBC88A6C8}"/>
              </a:ext>
            </a:extLst>
          </p:cNvPr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9C5E978-5400-B916-048C-B4ECA7FDCB74}"/>
              </a:ext>
            </a:extLst>
          </p:cNvPr>
          <p:cNvSpPr/>
          <p:nvPr/>
        </p:nvSpPr>
        <p:spPr>
          <a:xfrm>
            <a:off x="82296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Overview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DCDA677-7C72-33C1-CD40-94533D4F1848}"/>
              </a:ext>
            </a:extLst>
          </p:cNvPr>
          <p:cNvSpPr/>
          <p:nvPr/>
        </p:nvSpPr>
        <p:spPr>
          <a:xfrm>
            <a:off x="22860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1319C93-5E59-02FA-B74A-6E705EB1C161}"/>
              </a:ext>
            </a:extLst>
          </p:cNvPr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4FCE848-E3CF-69F3-7D84-88BB27E28073}"/>
              </a:ext>
            </a:extLst>
          </p:cNvPr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025E781-58D3-1A39-C145-8BC25ABAE392}"/>
              </a:ext>
            </a:extLst>
          </p:cNvPr>
          <p:cNvSpPr/>
          <p:nvPr/>
        </p:nvSpPr>
        <p:spPr>
          <a:xfrm>
            <a:off x="82296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in SCMS</a:t>
            </a:r>
            <a:endParaRPr lang="en-US"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D3028B4-0F40-9A92-C8E6-4F4E053B74DB}"/>
              </a:ext>
            </a:extLst>
          </p:cNvPr>
          <p:cNvSpPr/>
          <p:nvPr/>
        </p:nvSpPr>
        <p:spPr>
          <a:xfrm>
            <a:off x="4709160" y="100584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69B6ECE-7C2C-78CB-0F72-A7AC798DB313}"/>
              </a:ext>
            </a:extLst>
          </p:cNvPr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F123923-A09F-CD75-ECA2-2A3AF1BE8540}"/>
              </a:ext>
            </a:extLst>
          </p:cNvPr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66A7AE6-0B71-3727-831B-2C6E02BFE33F}"/>
              </a:ext>
            </a:extLst>
          </p:cNvPr>
          <p:cNvSpPr/>
          <p:nvPr/>
        </p:nvSpPr>
        <p:spPr>
          <a:xfrm>
            <a:off x="530352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Implemented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824AC8A-8F96-E432-F3AE-8F73A4958188}"/>
              </a:ext>
            </a:extLst>
          </p:cNvPr>
          <p:cNvSpPr/>
          <p:nvPr/>
        </p:nvSpPr>
        <p:spPr>
          <a:xfrm>
            <a:off x="4709160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9BD9D3B-6F77-A063-9550-9821697122D3}"/>
              </a:ext>
            </a:extLst>
          </p:cNvPr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DBB8A50-AE39-E324-0C01-32C962C46F82}"/>
              </a:ext>
            </a:extLst>
          </p:cNvPr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9F80C33-1D9D-EBC6-DAFD-7578EEF0FE81}"/>
              </a:ext>
            </a:extLst>
          </p:cNvPr>
          <p:cNvSpPr/>
          <p:nvPr/>
        </p:nvSpPr>
        <p:spPr>
          <a:xfrm>
            <a:off x="530352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Strategy</a:t>
            </a:r>
            <a:endParaRPr lang="en-US" sz="13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A5018AB-079F-7954-1FCF-B57A9170F8AF}"/>
              </a:ext>
            </a:extLst>
          </p:cNvPr>
          <p:cNvSpPr/>
          <p:nvPr/>
        </p:nvSpPr>
        <p:spPr>
          <a:xfrm>
            <a:off x="470916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E6032C1-3E39-B624-D68F-A85E1E53C7C1}"/>
              </a:ext>
            </a:extLst>
          </p:cNvPr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01080EE-5C52-F2FD-E71F-3CE463BC78D7}"/>
              </a:ext>
            </a:extLst>
          </p:cNvPr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7004C9D-6B93-F241-8C4A-94DCA1AD3313}"/>
              </a:ext>
            </a:extLst>
          </p:cNvPr>
          <p:cNvSpPr/>
          <p:nvPr/>
        </p:nvSpPr>
        <p:spPr>
          <a:xfrm>
            <a:off x="530352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Analysis</a:t>
            </a:r>
            <a:endParaRPr lang="en-US" sz="13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30BF03C-A7DC-148A-01B5-C011EE61ECD7}"/>
              </a:ext>
            </a:extLst>
          </p:cNvPr>
          <p:cNvSpPr/>
          <p:nvPr/>
        </p:nvSpPr>
        <p:spPr>
          <a:xfrm>
            <a:off x="470916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4BDE321-8BB9-99C5-1145-E137C9BBAEDE}"/>
              </a:ext>
            </a:extLst>
          </p:cNvPr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2283625-2F58-AD68-7CA7-2446911CB4E2}"/>
              </a:ext>
            </a:extLst>
          </p:cNvPr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570864B-815F-B946-B58D-4F175034E863}"/>
              </a:ext>
            </a:extLst>
          </p:cNvPr>
          <p:cNvSpPr/>
          <p:nvPr/>
        </p:nvSpPr>
        <p:spPr>
          <a:xfrm>
            <a:off x="530352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Lessons Learned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5EC54A-697A-4E3D-9C09-F3D9F6F5D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914400"/>
            <a:ext cx="9034272" cy="39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3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90CF8-F8CC-07FC-A65D-2826E92E0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7D1F4A-BF92-2794-A026-F36531298AEF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E692D7-119E-49A5-7BEF-20D8C137349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17B317-FF6A-D31A-5884-FA19608BC169}"/>
              </a:ext>
            </a:extLst>
          </p:cNvPr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62676A-125E-66A5-00EB-218CD7BBB4D6}"/>
              </a:ext>
            </a:extLst>
          </p:cNvPr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CCA2CF-3855-6EC5-A1D5-749B1D4449E1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0C59DA-AD98-967C-3435-5C9717FB81E0}"/>
              </a:ext>
            </a:extLst>
          </p:cNvPr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061565F-54D2-53E6-9536-32B27CA88B7C}"/>
              </a:ext>
            </a:extLst>
          </p:cNvPr>
          <p:cNvSpPr/>
          <p:nvPr/>
        </p:nvSpPr>
        <p:spPr>
          <a:xfrm>
            <a:off x="228600" y="100584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60C39A2-3306-3618-6D41-B29A51375242}"/>
              </a:ext>
            </a:extLst>
          </p:cNvPr>
          <p:cNvSpPr/>
          <p:nvPr/>
        </p:nvSpPr>
        <p:spPr>
          <a:xfrm>
            <a:off x="228600" y="100584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E63942-D35A-D9FF-36AE-B39B840BF6A4}"/>
              </a:ext>
            </a:extLst>
          </p:cNvPr>
          <p:cNvSpPr/>
          <p:nvPr/>
        </p:nvSpPr>
        <p:spPr>
          <a:xfrm>
            <a:off x="22860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F29217-ED8A-1387-1643-CC2777A8F121}"/>
              </a:ext>
            </a:extLst>
          </p:cNvPr>
          <p:cNvSpPr/>
          <p:nvPr/>
        </p:nvSpPr>
        <p:spPr>
          <a:xfrm>
            <a:off x="82296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A769064-5BA0-6D3A-0E3B-E27C7623EC68}"/>
              </a:ext>
            </a:extLst>
          </p:cNvPr>
          <p:cNvSpPr/>
          <p:nvPr/>
        </p:nvSpPr>
        <p:spPr>
          <a:xfrm>
            <a:off x="228600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26944CF-76B6-062F-E6B6-07785150A2FA}"/>
              </a:ext>
            </a:extLst>
          </p:cNvPr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D4878E6-3170-0900-5B84-1BD5324C28C4}"/>
              </a:ext>
            </a:extLst>
          </p:cNvPr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C629293-3DD0-A267-A97F-E696D9BB8AA9}"/>
              </a:ext>
            </a:extLst>
          </p:cNvPr>
          <p:cNvSpPr/>
          <p:nvPr/>
        </p:nvSpPr>
        <p:spPr>
          <a:xfrm>
            <a:off x="82296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033AEBA-96E6-3211-A646-EC1F9BC67D7E}"/>
              </a:ext>
            </a:extLst>
          </p:cNvPr>
          <p:cNvSpPr/>
          <p:nvPr/>
        </p:nvSpPr>
        <p:spPr>
          <a:xfrm>
            <a:off x="22860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DD56578-509E-3EC4-A70E-7D9B9DD51893}"/>
              </a:ext>
            </a:extLst>
          </p:cNvPr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565387C-E1D7-397D-9E35-43E86A00CE4C}"/>
              </a:ext>
            </a:extLst>
          </p:cNvPr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D50A0C1-9E81-52F7-C63C-A4E93021BBBF}"/>
              </a:ext>
            </a:extLst>
          </p:cNvPr>
          <p:cNvSpPr/>
          <p:nvPr/>
        </p:nvSpPr>
        <p:spPr>
          <a:xfrm>
            <a:off x="82296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Overview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B2D04F3-8F89-975B-6E6F-0881096AAE12}"/>
              </a:ext>
            </a:extLst>
          </p:cNvPr>
          <p:cNvSpPr/>
          <p:nvPr/>
        </p:nvSpPr>
        <p:spPr>
          <a:xfrm>
            <a:off x="22860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DE9BCB8-A56E-894D-A8A0-6A337299DEB3}"/>
              </a:ext>
            </a:extLst>
          </p:cNvPr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124BD81-6AE2-EEB4-ABF3-9B1CAC738B0B}"/>
              </a:ext>
            </a:extLst>
          </p:cNvPr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80E92B7-21D6-EE45-CEB1-564743D4E3B8}"/>
              </a:ext>
            </a:extLst>
          </p:cNvPr>
          <p:cNvSpPr/>
          <p:nvPr/>
        </p:nvSpPr>
        <p:spPr>
          <a:xfrm>
            <a:off x="82296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in SCMS</a:t>
            </a:r>
            <a:endParaRPr lang="en-US"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493A54B-7277-BE60-CA5D-9F859C6F05B2}"/>
              </a:ext>
            </a:extLst>
          </p:cNvPr>
          <p:cNvSpPr/>
          <p:nvPr/>
        </p:nvSpPr>
        <p:spPr>
          <a:xfrm>
            <a:off x="4709160" y="100584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BDF013A-FC4C-34C2-5591-A04E21A558D7}"/>
              </a:ext>
            </a:extLst>
          </p:cNvPr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0E9B3F5-40F4-3569-C6B5-36C84FACDFC1}"/>
              </a:ext>
            </a:extLst>
          </p:cNvPr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4493581-3A26-2CF4-E72C-B1D6273BB7FA}"/>
              </a:ext>
            </a:extLst>
          </p:cNvPr>
          <p:cNvSpPr/>
          <p:nvPr/>
        </p:nvSpPr>
        <p:spPr>
          <a:xfrm>
            <a:off x="530352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Implemented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221525E-0D62-710B-BC8C-F1C06D3FCBDC}"/>
              </a:ext>
            </a:extLst>
          </p:cNvPr>
          <p:cNvSpPr/>
          <p:nvPr/>
        </p:nvSpPr>
        <p:spPr>
          <a:xfrm>
            <a:off x="4709160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D907E7B-1701-BBDB-2CFF-0662D12E9B96}"/>
              </a:ext>
            </a:extLst>
          </p:cNvPr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B29633B-6737-7621-38C6-A3BD905F91EC}"/>
              </a:ext>
            </a:extLst>
          </p:cNvPr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97C870B-716E-BD0F-9587-83B65072E5DF}"/>
              </a:ext>
            </a:extLst>
          </p:cNvPr>
          <p:cNvSpPr/>
          <p:nvPr/>
        </p:nvSpPr>
        <p:spPr>
          <a:xfrm>
            <a:off x="530352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Strategy</a:t>
            </a:r>
            <a:endParaRPr lang="en-US" sz="13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B930FD71-FAFF-3ADF-405B-8FF264159AF7}"/>
              </a:ext>
            </a:extLst>
          </p:cNvPr>
          <p:cNvSpPr/>
          <p:nvPr/>
        </p:nvSpPr>
        <p:spPr>
          <a:xfrm>
            <a:off x="470916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17BF879-DA50-CF50-9F68-7302F4ED3C20}"/>
              </a:ext>
            </a:extLst>
          </p:cNvPr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7D4195C-84FF-A743-2E13-A56873398DFE}"/>
              </a:ext>
            </a:extLst>
          </p:cNvPr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99A78E4-86C7-B832-5988-7F50235B9DB1}"/>
              </a:ext>
            </a:extLst>
          </p:cNvPr>
          <p:cNvSpPr/>
          <p:nvPr/>
        </p:nvSpPr>
        <p:spPr>
          <a:xfrm>
            <a:off x="530352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Analysis</a:t>
            </a:r>
            <a:endParaRPr lang="en-US" sz="13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631A3B8-4C62-D600-0EE3-023664610A12}"/>
              </a:ext>
            </a:extLst>
          </p:cNvPr>
          <p:cNvSpPr/>
          <p:nvPr/>
        </p:nvSpPr>
        <p:spPr>
          <a:xfrm>
            <a:off x="470916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F7A2012-C42D-4672-6387-1FCDEFE3A263}"/>
              </a:ext>
            </a:extLst>
          </p:cNvPr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042621C-288D-A6CE-0B43-B5E7E4473D7E}"/>
              </a:ext>
            </a:extLst>
          </p:cNvPr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E0BA3DD-661D-1476-68B7-3BBAD11F43A4}"/>
              </a:ext>
            </a:extLst>
          </p:cNvPr>
          <p:cNvSpPr/>
          <p:nvPr/>
        </p:nvSpPr>
        <p:spPr>
          <a:xfrm>
            <a:off x="530352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Lessons Learned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71186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SCMS?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3716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software prototype for Cardiff Metropolitan University. The system unifies room booking, maintenance request tracking, and campus-wide notifications into a single modular platform — demonstrating OOP, design patterns, and robust exception handling.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971800"/>
            <a:ext cx="274320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Administrator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4015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rooms, users, maintenance &amp; analytics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2971800"/>
            <a:ext cx="2743200" cy="15087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64408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Staff Member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4408" y="34015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rooms, report maintenance, notifications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2971800"/>
            <a:ext cx="2743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08776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08776" y="34015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rooms, request bookings, announcements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1005840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1042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86400" y="15179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78040" y="1005840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1042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178040" y="15179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2057400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0" y="20939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486400" y="25694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2057400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78040" y="20939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178040" y="25694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– VS Code + JDK 21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206240" cy="4114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978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 Visual Studio 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444752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Pack for Java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from VS Code marketplace — provides: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 Support for Java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Debugger for Java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 Test Runner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Maven for Java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shortcut: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Click ▶ Run above main()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shortcut: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Click ▶ Run above TestRunner.main()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8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978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JDK 21 (Adoptium Temurin)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Eclipse </a:t>
            </a:r>
            <a:r>
              <a:rPr lang="en-US" sz="115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Temurin</a:t>
            </a: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JDK 21 LTS</a:t>
            </a:r>
            <a:endParaRPr lang="en-US" sz="1150" dirty="0"/>
          </a:p>
          <a:p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from adoptium.net 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JDK 21?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LTS (Long Term Support) release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expressions (used in RoomFactory)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blocks (used in ConsoleUI menus)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 types for test fixtures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installation: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-version  →  </a:t>
            </a:r>
            <a:r>
              <a:rPr lang="en-US" sz="115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openjdk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" y="4617720"/>
            <a:ext cx="86868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62686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Install JDK 21 → Install VS Code → Install Extension Pack for Java → Open SCMS_Project folder → Click ▶ Run on Main.java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1005840"/>
            <a:ext cx="13716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27632" y="1005840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37360" y="10058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4592" y="1572768"/>
            <a:ext cx="1371600" cy="457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4592" y="1572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Layer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27632" y="1572768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37360" y="157276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CampusFacade  ←  Facade Pattern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4592" y="2139696"/>
            <a:ext cx="13716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4592" y="21396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27632" y="2139696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213969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  |  RoomService  |  BookingService  |  MaintenanceService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4592" y="2706624"/>
            <a:ext cx="13716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4592" y="27066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Layer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27632" y="2706624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37360" y="270662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(Singleton+Observer)  |  RoomFactory (Factory)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" y="3273552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4592" y="32735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27632" y="3273552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37360" y="32735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|  Admin  |  Staff  |  Student  |  Room  |  Booking  |  MaintenanceRequest  |  Notification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64592" y="3840480"/>
            <a:ext cx="137160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4592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Layer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627632" y="3840480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37360" y="3840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RoomAlreadyBookedException  |  UnauthorizedActionException  |  DuplicateEntityException  |  EntityNotFoundException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4592" y="4407408"/>
            <a:ext cx="8732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User △── Admin/Staff/Student (Inheritance)  |  CampusFacade──&gt;Services (Composition)  |  ConsoleUI implements NotificationObserver (Interface)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in SCMS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forms of polymorphism applied throughout the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53312"/>
            <a:ext cx="41605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353312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3533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Inheritance Polymorphism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3977640" cy="2871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 User  declares: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getPermissionSummary()  [abstract]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→  "Manage rooms, users..."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 →  "Book rooms, report issues..."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→  "View rooms, request bookings..."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CampusFacade accepts a User reference at runtime — correct subtype resolved automatically. Implemented in VS Code, compiled with JDK 21 switch expressions.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353312"/>
            <a:ext cx="42976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353312"/>
            <a:ext cx="4297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3533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Interface Polymorphism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737360"/>
            <a:ext cx="4114800" cy="2871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 NotificationObserver: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onNotification(Notification 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  implements this interface.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 holds: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List&lt;NotificationObserver&gt;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call  notify()  — ConsoleUI.onNotification() dispatched at runtime. Neither service knows about ConsoleUI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Implemented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pattern from each GoF category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371600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" y="1371600"/>
            <a:ext cx="425196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3716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  ›  Singleton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7556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02996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one shared notification hub. Multiple instances would break the observer registry and split the inbox.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25196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  ›  Factory Method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7556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RoomFactory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02996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Rooms pre-configured with the correct equipment per type (LECTURE_HALL, COMPUTER_LAB, etc.).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3063240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" y="3063240"/>
            <a:ext cx="42519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0632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 ›  Facade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44728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CampusFacade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72160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to 4 subsystems. The UI only calls CampusFacade. Role-based access enforced in requireAdmin().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42519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0632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 ›  Observer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44728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NotificationObserver + NotificationService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72160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notification producers (services) from consumers (ConsoleUI). Services call notify() blindly.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– Code Walk-Through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– NotificationService.getInstance()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252728"/>
            <a:ext cx="5029200" cy="111556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89304"/>
            <a:ext cx="48463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NotificationService instance;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NotificationService getInstance()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(instance == null)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instance = new NotificationService();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instance;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" y="25786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– notify() dispatches to registered observers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871216"/>
            <a:ext cx="5029200" cy="111556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907792"/>
            <a:ext cx="48463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Notification notify(String userId, String msg)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Notification n = new Notification(userId, msg);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inbox.get(userId).add(n);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observers.get(userId).forEach(o -&gt; o.onNotification(n));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4068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– requireAdmin() guard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40680" y="1252728"/>
            <a:ext cx="3474720" cy="111556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32120" y="1289304"/>
            <a:ext cx="32918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requireAdmin(User caller)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UnauthorizedActionException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(caller.getRole() != UserRole.ADMIN)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UnauthorizedActionException(...);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40680" y="2578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– JDK 21 switch expression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0680" y="2871216"/>
            <a:ext cx="3474720" cy="111556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32120" y="2907792"/>
            <a:ext cx="32918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Room create(RoomType type,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id, String name, int cap)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switch(type) {  // JDK 21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LECTURE_HALL -&gt; new Room(id, 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cap, List.of("Projector",...));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427939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VS Code: open each class → the ▶ Run button appears above main(). Use Explorer panel to navigate packages.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 Checked Exception Classes — targeted, meaningful error handling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371600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" y="1371600"/>
            <a:ext cx="365760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RoomAlreadyBookedException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1709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New booking overlaps existing CONFIRMED booking for same room/time   |   Example: Book R101 09:00-11:00 when 10:00-12:00 already exists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176272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" y="2176272"/>
            <a:ext cx="365760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221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UnauthorizedActionException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Non-admin user attempts admin-only operation   |   Example: Student calls facade.addRoom() — fixed in ConsoleUI.java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980944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" y="2980944"/>
            <a:ext cx="365760" cy="7132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026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DuplicateEntityException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3319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Room ID or user email already registered in the system   |   Example: Admin adds Room 'R101' when R101 already exists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3785616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3785616"/>
            <a:ext cx="365760" cy="7132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831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EntityNotFoundException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41239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Referenced entity (room/booking/user/request) does not exist   |   Example: Booking with unknown Room ID 'R999'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" y="4645152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Bug fixed: ConsoleUI adminAddRoom() signature corrected — DuplicateEntityException now handled internally  ✔  IllegalArgumentException for invalid time windows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Overview – 15 Test Cases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58864"/>
              </p:ext>
            </p:extLst>
          </p:nvPr>
        </p:nvGraphicFramePr>
        <p:xfrm>
          <a:off x="109728" y="656844"/>
          <a:ext cx="9034271" cy="3901440"/>
        </p:xfrm>
        <a:graphic>
          <a:graphicData uri="http://schemas.openxmlformats.org/drawingml/2006/table">
            <a:tbl>
              <a:tblPr/>
              <a:tblGrid>
                <a:gridCol w="756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room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Double-booking prevention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Non-overlapping bookings succeed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cancels own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deactivated room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lifecycle PENDING→DONE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confirmation 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assignment 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adds room (intentional fail)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Room ID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login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Non-owner cancel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cancels any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RoomFactory equipment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time window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9728" y="462229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TC09 intentionally fails — proves UnauthorizedActionException guard works. Run: java -cp out scms.test.TestRunner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Analysis &amp; Error Discussion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182880" y="914400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023360" y="914400"/>
          <a:ext cx="4892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182880" y="4251960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TC09 analysis: assertDoesNotThrow() was intentionally called on facade.addRoom(student,...). The Facade's requireAdmin() always throws UnauthorizedActionException for non-admin users — so the test fails, proving the security guard works. This technique tests negative behaviour.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Fix, Limitations &amp; Future Improvements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8346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Bug Fixed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37160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1444752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ConsoleUI.adminAddRoom() declared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'throws DuplicateEntityException'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caller catch block didn't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it → compile error in VS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Removed from method signature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it was already caught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with try/catch.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Java forces all 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to be handled — VS Code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and JDK 21 surface these clearly.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8346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Known Limitations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72968" y="137160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82696" y="1444752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in-memory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persistence between runs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graphical interface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booking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 feature not built)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not thread-safe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(single-threaded application)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 validation middleware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exception throwing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960120"/>
            <a:ext cx="2834640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36208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Future Improvements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63056" y="137160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1444752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CSV/database persistence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GUI using VS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extension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bookings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Strategy pattern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pattern for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undo/redo of bookings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Singleton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enum pattern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– OOP Techniques &amp; Lessons Learned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251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251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344168"/>
            <a:ext cx="4069080" cy="321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GoF patterns in a real system made their value clear — the Facade dramatically simplified the UI layer and centralised access control.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Pattern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notifications fire automatically when a booking was confirmed — without the booking code knowing about the UI — made the concept click.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21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switch expressions in RoomFactory and text blocks in ConsoleUI showed how modern Java features improve readability and reduce boilerplate.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custom exceptions taught how meaningful error messages improve debugging and user experience — and VS Code's compiler surfaced the missing handler immediately.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51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2519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 Challenging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4069080" cy="321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Thread Safety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a null-check Singleton is not thread-safe was challenging. Enum-based or double-checked locking patterns would be needed in production.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TC09 as an intentional failure required thinking in reverse — proving a negative. Designing tests that validate what the system rejects was a new concept.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business logic out of ConsoleUI required constant discipline. The bug fix — where DuplicateEntityException leaked into the UI layer — was a real-world example of this challenge.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Setup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Extension Pack for Java and ensuring JDK 21 was on PATH required careful setup but VS Code detected the JDK automatically after installation.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4472C4">
              <a:alpha val="25000"/>
            </a:srgbClr>
          </a:solidFill>
          <a:ln w="12700">
            <a:solidFill>
              <a:srgbClr val="4472C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Management System – SCMS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828800" cy="438912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 VS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2103120"/>
            <a:ext cx="1828800" cy="438912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21214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JDK 21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Java classes  |  4 Design Patterns  |  15 Unit Tests  |  14 Passing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Principles: Abstraction · Encapsulation · Inheritance · Polymorphism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449884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  |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10596</TotalTime>
  <Words>1645</Words>
  <Application>Microsoft Office PowerPoint</Application>
  <PresentationFormat>On-screen Show (16:9)</PresentationFormat>
  <Paragraphs>362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Management System – CMP7001 PRES1</dc:title>
  <dc:subject>PptxGenJS Presentation</dc:subject>
  <dc:creator>PptxGenJS</dc:creator>
  <cp:lastModifiedBy>Nadishika Lakmini</cp:lastModifiedBy>
  <cp:revision>10</cp:revision>
  <dcterms:created xsi:type="dcterms:W3CDTF">2026-04-06T03:19:26Z</dcterms:created>
  <dcterms:modified xsi:type="dcterms:W3CDTF">2026-04-21T04:35:20Z</dcterms:modified>
</cp:coreProperties>
</file>