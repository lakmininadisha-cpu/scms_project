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5" r:id="rId4"/>
    <p:sldId id="274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1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40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15 Tests – Results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D380-4673-996D-3D6538892856}"/>
              </c:ext>
            </c:extLst>
          </c:dPt>
          <c:dPt>
            <c:idx val="1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380-4673-996D-3D6538892856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380-4673-996D-3D6538892856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380-4673-996D-3D6538892856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Passed (14)</c:v>
                </c:pt>
                <c:pt idx="1">
                  <c:v>Intentional Fail (1)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14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380-4673-996D-3D65388928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Arial"/>
              </a:rPr>
              <a:t>Tests by Scope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By Scope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Booking</c:v>
                </c:pt>
                <c:pt idx="1">
                  <c:v>Exception</c:v>
                </c:pt>
                <c:pt idx="2">
                  <c:v>Notification</c:v>
                </c:pt>
                <c:pt idx="3">
                  <c:v>Maintenance</c:v>
                </c:pt>
                <c:pt idx="4">
                  <c:v>Factory</c:v>
                </c:pt>
                <c:pt idx="5">
                  <c:v>Auth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5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1F-4E3D-8B2B-664E45666E0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A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6F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34576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215B-83A9-06E5-1B25-362576AEA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6382C9-7F9B-D32C-B5A1-A1E924E11A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CBEE53-54D5-CDF8-A159-1A541CBF56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06505-B981-EC46-A81B-32D70DFDE9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70270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8C380-4627-82C0-4BB5-FE314FA55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888DC2-6E7E-6A28-C5BA-2B94FEF32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78BB9-C138-9995-C716-31F566D46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7909F1-8656-2EDA-3D8B-DA63D0BF8A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365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4472C4">
              <a:alpha val="30000"/>
            </a:srgbClr>
          </a:solidFill>
          <a:ln w="12700">
            <a:solidFill>
              <a:srgbClr val="4472C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498080" y="-457200"/>
            <a:ext cx="2286000" cy="2286000"/>
          </a:xfrm>
          <a:prstGeom prst="ellipse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CADCFC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0"/>
            <a:ext cx="457200" cy="448056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31520" y="5029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Cardiff Metropolitan University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96012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731520" y="171907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731520" y="257860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SCMS – A Java-Based Software Prototype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0632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Module: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2011680" cy="566928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77240" y="354787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 VS Code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880360" y="3520440"/>
            <a:ext cx="2011680" cy="566928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926080" y="354787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JDK 21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4160520"/>
            <a:ext cx="5908766" cy="50292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77239" y="4178808"/>
            <a:ext cx="629880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Video Link: [https://drive.google.com/drive/u/1/folders/1wSv0TPZgTMRe_c3nLs5cSfhLfat-qD_R]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Turniting</a:t>
            </a: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Current 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82296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82881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Developent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Environment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Overview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2860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in SCMS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09160" y="100584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Implemented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30352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Strategy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70916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30352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Analysis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0916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30352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Lessons Learned</a:t>
            </a:r>
            <a:endParaRPr lang="en-US" sz="1300" dirty="0"/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D74F6E7-CDB1-FC4C-BD9A-5DCF173BF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905256"/>
            <a:ext cx="9034272" cy="39593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30F7E8-F406-205C-4AA8-39876CB09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44865A-93C1-AE09-93E0-DAE137623D4B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6E7ECE6-9B49-5184-A0B8-631CD3D81CF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62F4B78-5AAC-976A-D92F-87A7467B3EAF}"/>
              </a:ext>
            </a:extLst>
          </p:cNvPr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Turnitin Digital Receipt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83983E-9DDD-2DAB-7B4F-497BF45B7979}"/>
              </a:ext>
            </a:extLst>
          </p:cNvPr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7C11BF6-CFFD-1DFC-388E-5E9B22F35A7F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18762B5-9785-81F3-FE92-7B4625B7B565}"/>
              </a:ext>
            </a:extLst>
          </p:cNvPr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D8C0FBA-E45A-1BED-7EC3-FBF9E741619C}"/>
              </a:ext>
            </a:extLst>
          </p:cNvPr>
          <p:cNvSpPr/>
          <p:nvPr/>
        </p:nvSpPr>
        <p:spPr>
          <a:xfrm>
            <a:off x="82296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51871D7-9D03-AFA1-BC54-1743C016B8C2}"/>
              </a:ext>
            </a:extLst>
          </p:cNvPr>
          <p:cNvSpPr/>
          <p:nvPr/>
        </p:nvSpPr>
        <p:spPr>
          <a:xfrm>
            <a:off x="182881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0C94F9E-9CD4-FF59-1D34-9959B77F89B2}"/>
              </a:ext>
            </a:extLst>
          </p:cNvPr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9E866BA-B056-83A7-7F12-AF58B3318FB4}"/>
              </a:ext>
            </a:extLst>
          </p:cNvPr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3E47379-42F9-E81B-A432-267E6FF73FAB}"/>
              </a:ext>
            </a:extLst>
          </p:cNvPr>
          <p:cNvSpPr/>
          <p:nvPr/>
        </p:nvSpPr>
        <p:spPr>
          <a:xfrm>
            <a:off x="82296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Developent</a:t>
            </a: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Environment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F5E75CB0-2A1C-E75A-241B-CA340BD42396}"/>
              </a:ext>
            </a:extLst>
          </p:cNvPr>
          <p:cNvSpPr/>
          <p:nvPr/>
        </p:nvSpPr>
        <p:spPr>
          <a:xfrm>
            <a:off x="22860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0700C98-4851-C80B-D19C-03C0E92D1ACE}"/>
              </a:ext>
            </a:extLst>
          </p:cNvPr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BDF6EA03-C761-96EC-8E9E-A56EBC88A6C8}"/>
              </a:ext>
            </a:extLst>
          </p:cNvPr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9C5E978-5400-B916-048C-B4ECA7FDCB74}"/>
              </a:ext>
            </a:extLst>
          </p:cNvPr>
          <p:cNvSpPr/>
          <p:nvPr/>
        </p:nvSpPr>
        <p:spPr>
          <a:xfrm>
            <a:off x="82296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Overview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DDCDA677-7C72-33C1-CD40-94533D4F1848}"/>
              </a:ext>
            </a:extLst>
          </p:cNvPr>
          <p:cNvSpPr/>
          <p:nvPr/>
        </p:nvSpPr>
        <p:spPr>
          <a:xfrm>
            <a:off x="22860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31319C93-5E59-02FA-B74A-6E705EB1C161}"/>
              </a:ext>
            </a:extLst>
          </p:cNvPr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4FCE848-E3CF-69F3-7D84-88BB27E28073}"/>
              </a:ext>
            </a:extLst>
          </p:cNvPr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025E781-58D3-1A39-C145-8BC25ABAE392}"/>
              </a:ext>
            </a:extLst>
          </p:cNvPr>
          <p:cNvSpPr/>
          <p:nvPr/>
        </p:nvSpPr>
        <p:spPr>
          <a:xfrm>
            <a:off x="82296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in SCMS</a:t>
            </a:r>
            <a:endParaRPr lang="en-US" sz="13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BD3028B4-0F40-9A92-C8E6-4F4E053B74DB}"/>
              </a:ext>
            </a:extLst>
          </p:cNvPr>
          <p:cNvSpPr/>
          <p:nvPr/>
        </p:nvSpPr>
        <p:spPr>
          <a:xfrm>
            <a:off x="4709160" y="100584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D69B6ECE-7C2C-78CB-0F72-A7AC798DB313}"/>
              </a:ext>
            </a:extLst>
          </p:cNvPr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F123923-A09F-CD75-ECA2-2A3AF1BE8540}"/>
              </a:ext>
            </a:extLst>
          </p:cNvPr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966A7AE6-0B71-3727-831B-2C6E02BFE33F}"/>
              </a:ext>
            </a:extLst>
          </p:cNvPr>
          <p:cNvSpPr/>
          <p:nvPr/>
        </p:nvSpPr>
        <p:spPr>
          <a:xfrm>
            <a:off x="530352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Implemented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6824AC8A-8F96-E432-F3AE-8F73A4958188}"/>
              </a:ext>
            </a:extLst>
          </p:cNvPr>
          <p:cNvSpPr/>
          <p:nvPr/>
        </p:nvSpPr>
        <p:spPr>
          <a:xfrm>
            <a:off x="4709160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39BD9D3B-6F77-A063-9550-9821697122D3}"/>
              </a:ext>
            </a:extLst>
          </p:cNvPr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9DBB8A50-AE39-E324-0C01-32C962C46F82}"/>
              </a:ext>
            </a:extLst>
          </p:cNvPr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09F80C33-1D9D-EBC6-DAFD-7578EEF0FE81}"/>
              </a:ext>
            </a:extLst>
          </p:cNvPr>
          <p:cNvSpPr/>
          <p:nvPr/>
        </p:nvSpPr>
        <p:spPr>
          <a:xfrm>
            <a:off x="530352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Strategy</a:t>
            </a:r>
            <a:endParaRPr lang="en-US" sz="13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CA5018AB-079F-7954-1FCF-B57A9170F8AF}"/>
              </a:ext>
            </a:extLst>
          </p:cNvPr>
          <p:cNvSpPr/>
          <p:nvPr/>
        </p:nvSpPr>
        <p:spPr>
          <a:xfrm>
            <a:off x="470916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E6032C1-3E39-B624-D68F-A85E1E53C7C1}"/>
              </a:ext>
            </a:extLst>
          </p:cNvPr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A01080EE-5C52-F2FD-E71F-3CE463BC78D7}"/>
              </a:ext>
            </a:extLst>
          </p:cNvPr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7004C9D-6B93-F241-8C4A-94DCA1AD3313}"/>
              </a:ext>
            </a:extLst>
          </p:cNvPr>
          <p:cNvSpPr/>
          <p:nvPr/>
        </p:nvSpPr>
        <p:spPr>
          <a:xfrm>
            <a:off x="530352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Analysis</a:t>
            </a:r>
            <a:endParaRPr lang="en-US" sz="13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E30BF03C-A7DC-148A-01B5-C011EE61ECD7}"/>
              </a:ext>
            </a:extLst>
          </p:cNvPr>
          <p:cNvSpPr/>
          <p:nvPr/>
        </p:nvSpPr>
        <p:spPr>
          <a:xfrm>
            <a:off x="470916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54BDE321-8BB9-99C5-1145-E137C9BBAEDE}"/>
              </a:ext>
            </a:extLst>
          </p:cNvPr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62283625-2F58-AD68-7CA7-2446911CB4E2}"/>
              </a:ext>
            </a:extLst>
          </p:cNvPr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F570864B-815F-B946-B58D-4F175034E863}"/>
              </a:ext>
            </a:extLst>
          </p:cNvPr>
          <p:cNvSpPr/>
          <p:nvPr/>
        </p:nvSpPr>
        <p:spPr>
          <a:xfrm>
            <a:off x="530352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Lessons Learned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5EC54A-697A-4E3D-9C09-F3D9F6F5D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914400"/>
            <a:ext cx="9034272" cy="39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333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490CF8-F8CC-07FC-A65D-2826E92E09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1F7D1F4A-BF92-2794-A026-F36531298AEF}"/>
              </a:ext>
            </a:extLst>
          </p:cNvPr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2E692D7-119E-49A5-7BEF-20D8C137349D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B17B317-FF6A-D31A-5884-FA19608BC169}"/>
              </a:ext>
            </a:extLst>
          </p:cNvPr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662676A-125E-66A5-00EB-218CD7BBB4D6}"/>
              </a:ext>
            </a:extLst>
          </p:cNvPr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0CCA2CF-3855-6EC5-A1D5-749B1D4449E1}"/>
              </a:ext>
            </a:extLst>
          </p:cNvPr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60C59DA-AD98-967C-3435-5C9717FB81E0}"/>
              </a:ext>
            </a:extLst>
          </p:cNvPr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061565F-54D2-53E6-9536-32B27CA88B7C}"/>
              </a:ext>
            </a:extLst>
          </p:cNvPr>
          <p:cNvSpPr/>
          <p:nvPr/>
        </p:nvSpPr>
        <p:spPr>
          <a:xfrm>
            <a:off x="228600" y="100584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C60C39A2-3306-3618-6D41-B29A51375242}"/>
              </a:ext>
            </a:extLst>
          </p:cNvPr>
          <p:cNvSpPr/>
          <p:nvPr/>
        </p:nvSpPr>
        <p:spPr>
          <a:xfrm>
            <a:off x="228600" y="100584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8E63942-D35A-D9FF-36AE-B39B840BF6A4}"/>
              </a:ext>
            </a:extLst>
          </p:cNvPr>
          <p:cNvSpPr/>
          <p:nvPr/>
        </p:nvSpPr>
        <p:spPr>
          <a:xfrm>
            <a:off x="228600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7FF29217-ED8A-1387-1643-CC2777A8F121}"/>
              </a:ext>
            </a:extLst>
          </p:cNvPr>
          <p:cNvSpPr/>
          <p:nvPr/>
        </p:nvSpPr>
        <p:spPr>
          <a:xfrm>
            <a:off x="82296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13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A769064-5BA0-6D3A-0E3B-E27C7623EC68}"/>
              </a:ext>
            </a:extLst>
          </p:cNvPr>
          <p:cNvSpPr/>
          <p:nvPr/>
        </p:nvSpPr>
        <p:spPr>
          <a:xfrm>
            <a:off x="228600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426944CF-76B6-062F-E6B6-07785150A2FA}"/>
              </a:ext>
            </a:extLst>
          </p:cNvPr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D4878E6-3170-0900-5B84-1BD5324C28C4}"/>
              </a:ext>
            </a:extLst>
          </p:cNvPr>
          <p:cNvSpPr/>
          <p:nvPr/>
        </p:nvSpPr>
        <p:spPr>
          <a:xfrm>
            <a:off x="22860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0C629293-3DD0-A267-A97F-E696D9BB8AA9}"/>
              </a:ext>
            </a:extLst>
          </p:cNvPr>
          <p:cNvSpPr/>
          <p:nvPr/>
        </p:nvSpPr>
        <p:spPr>
          <a:xfrm>
            <a:off x="82296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</a:t>
            </a:r>
            <a:endParaRPr lang="en-US" sz="13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033AEBA-96E6-3211-A646-EC1F9BC67D7E}"/>
              </a:ext>
            </a:extLst>
          </p:cNvPr>
          <p:cNvSpPr/>
          <p:nvPr/>
        </p:nvSpPr>
        <p:spPr>
          <a:xfrm>
            <a:off x="22860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0DD56578-509E-3EC4-A70E-7D9B9DD51893}"/>
              </a:ext>
            </a:extLst>
          </p:cNvPr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A565387C-E1D7-397D-9E35-43E86A00CE4C}"/>
              </a:ext>
            </a:extLst>
          </p:cNvPr>
          <p:cNvSpPr/>
          <p:nvPr/>
        </p:nvSpPr>
        <p:spPr>
          <a:xfrm>
            <a:off x="22860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8D50A0C1-9E81-52F7-C63C-A4E93021BBBF}"/>
              </a:ext>
            </a:extLst>
          </p:cNvPr>
          <p:cNvSpPr/>
          <p:nvPr/>
        </p:nvSpPr>
        <p:spPr>
          <a:xfrm>
            <a:off x="82296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Overview</a:t>
            </a:r>
            <a:endParaRPr lang="en-US" sz="13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1B2D04F3-8F89-975B-6E6F-0881096AAE12}"/>
              </a:ext>
            </a:extLst>
          </p:cNvPr>
          <p:cNvSpPr/>
          <p:nvPr/>
        </p:nvSpPr>
        <p:spPr>
          <a:xfrm>
            <a:off x="22860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EDE9BCB8-A56E-894D-A8A0-6A337299DEB3}"/>
              </a:ext>
            </a:extLst>
          </p:cNvPr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124BD81-6AE2-EEB4-ABF3-9B1CAC738B0B}"/>
              </a:ext>
            </a:extLst>
          </p:cNvPr>
          <p:cNvSpPr/>
          <p:nvPr/>
        </p:nvSpPr>
        <p:spPr>
          <a:xfrm>
            <a:off x="22860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80E92B7-21D6-EE45-CEB1-564743D4E3B8}"/>
              </a:ext>
            </a:extLst>
          </p:cNvPr>
          <p:cNvSpPr/>
          <p:nvPr/>
        </p:nvSpPr>
        <p:spPr>
          <a:xfrm>
            <a:off x="82296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in SCMS</a:t>
            </a:r>
            <a:endParaRPr lang="en-US" sz="13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5493A54B-7277-BE60-CA5D-9F859C6F05B2}"/>
              </a:ext>
            </a:extLst>
          </p:cNvPr>
          <p:cNvSpPr/>
          <p:nvPr/>
        </p:nvSpPr>
        <p:spPr>
          <a:xfrm>
            <a:off x="4709160" y="100584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BDF013A-FC4C-34C2-5591-A04E21A558D7}"/>
              </a:ext>
            </a:extLst>
          </p:cNvPr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30E9B3F5-40F4-3569-C6B5-36C84FACDFC1}"/>
              </a:ext>
            </a:extLst>
          </p:cNvPr>
          <p:cNvSpPr/>
          <p:nvPr/>
        </p:nvSpPr>
        <p:spPr>
          <a:xfrm>
            <a:off x="4709160" y="100584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A4493581-3A26-2CF4-E72C-B1D6273BB7FA}"/>
              </a:ext>
            </a:extLst>
          </p:cNvPr>
          <p:cNvSpPr/>
          <p:nvPr/>
        </p:nvSpPr>
        <p:spPr>
          <a:xfrm>
            <a:off x="5303520" y="100584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Implemented</a:t>
            </a:r>
            <a:endParaRPr lang="en-US" sz="1300" dirty="0"/>
          </a:p>
        </p:txBody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B221525E-0D62-710B-BC8C-F1C06D3FCBDC}"/>
              </a:ext>
            </a:extLst>
          </p:cNvPr>
          <p:cNvSpPr/>
          <p:nvPr/>
        </p:nvSpPr>
        <p:spPr>
          <a:xfrm>
            <a:off x="4709160" y="187452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DD907E7B-1701-BBDB-2CFF-0662D12E9B96}"/>
              </a:ext>
            </a:extLst>
          </p:cNvPr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4B29633B-6737-7621-38C6-A3BD905F91EC}"/>
              </a:ext>
            </a:extLst>
          </p:cNvPr>
          <p:cNvSpPr/>
          <p:nvPr/>
        </p:nvSpPr>
        <p:spPr>
          <a:xfrm>
            <a:off x="4709160" y="187452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E97C870B-716E-BD0F-9587-83B65072E5DF}"/>
              </a:ext>
            </a:extLst>
          </p:cNvPr>
          <p:cNvSpPr/>
          <p:nvPr/>
        </p:nvSpPr>
        <p:spPr>
          <a:xfrm>
            <a:off x="5303520" y="187452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Strategy</a:t>
            </a:r>
            <a:endParaRPr lang="en-US" sz="1300" dirty="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B930FD71-FAFF-3ADF-405B-8FF264159AF7}"/>
              </a:ext>
            </a:extLst>
          </p:cNvPr>
          <p:cNvSpPr/>
          <p:nvPr/>
        </p:nvSpPr>
        <p:spPr>
          <a:xfrm>
            <a:off x="4709160" y="274320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B17BF879-DA50-CF50-9F68-7302F4ED3C20}"/>
              </a:ext>
            </a:extLst>
          </p:cNvPr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77D4195C-84FF-A743-2E13-A56873398DFE}"/>
              </a:ext>
            </a:extLst>
          </p:cNvPr>
          <p:cNvSpPr/>
          <p:nvPr/>
        </p:nvSpPr>
        <p:spPr>
          <a:xfrm>
            <a:off x="4709160" y="274320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699A78E4-86C7-B832-5988-7F50235B9DB1}"/>
              </a:ext>
            </a:extLst>
          </p:cNvPr>
          <p:cNvSpPr/>
          <p:nvPr/>
        </p:nvSpPr>
        <p:spPr>
          <a:xfrm>
            <a:off x="5303520" y="274320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&amp; Analysis</a:t>
            </a:r>
            <a:endParaRPr lang="en-US" sz="13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D631A3B8-4C62-D600-0EE3-023664610A12}"/>
              </a:ext>
            </a:extLst>
          </p:cNvPr>
          <p:cNvSpPr/>
          <p:nvPr/>
        </p:nvSpPr>
        <p:spPr>
          <a:xfrm>
            <a:off x="4709160" y="3611880"/>
            <a:ext cx="42519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>
            <a:extLst>
              <a:ext uri="{FF2B5EF4-FFF2-40B4-BE49-F238E27FC236}">
                <a16:creationId xmlns:a16="http://schemas.microsoft.com/office/drawing/2014/main" id="{EF7A2012-C42D-4672-6387-1FCDEFE3A263}"/>
              </a:ext>
            </a:extLst>
          </p:cNvPr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042621C-288D-A6CE-0B43-B5E7E4473D7E}"/>
              </a:ext>
            </a:extLst>
          </p:cNvPr>
          <p:cNvSpPr/>
          <p:nvPr/>
        </p:nvSpPr>
        <p:spPr>
          <a:xfrm>
            <a:off x="4709160" y="3611880"/>
            <a:ext cx="502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600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1E0BA3DD-661D-1476-68B7-3BBAD11F43A4}"/>
              </a:ext>
            </a:extLst>
          </p:cNvPr>
          <p:cNvSpPr/>
          <p:nvPr/>
        </p:nvSpPr>
        <p:spPr>
          <a:xfrm>
            <a:off x="5303520" y="3611880"/>
            <a:ext cx="3566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&amp; Lessons Learned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711869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Project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1005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SCMS?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28600" y="13716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Java-based software prototype for Cardiff Metropolitan University. The system unifies room booking, maintenance request tracking, and campus-wide notifications into a single modular platform — demonstrating OOP, design patterns, and robust exception handling.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28600" y="2971800"/>
            <a:ext cx="2743200" cy="1508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3017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Administrator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340156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rooms, users, maintenance &amp; analytics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172968" y="2971800"/>
            <a:ext cx="2743200" cy="150876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64408" y="3017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Staff Member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64408" y="340156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rooms, report maintenance, notifications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7336" y="2971800"/>
            <a:ext cx="2743200" cy="1508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08776" y="30175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Student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08776" y="3401568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rooms, request bookings, announcements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1005840"/>
            <a:ext cx="1554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486400" y="1042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86400" y="15179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Classes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178040" y="1005840"/>
            <a:ext cx="1554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78040" y="10424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178040" y="151790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0" y="2057400"/>
            <a:ext cx="1554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486400" y="20939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5486400" y="25694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78040" y="2057400"/>
            <a:ext cx="155448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78040" y="209397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178040" y="25694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Environment – VS Code + JDK 21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007A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4206240" cy="411480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978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 Visual Studio Code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0040" y="1444752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Pack for Java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from VS Code marketplace — provides: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Language Support for Java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Debugger for Java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Java Test Runner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Maven for Java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shortcut: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Click ▶ Run above main()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shortcut: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Click ▶ Run above TestRunner.main()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D8B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206240" cy="411480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978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JDK 21 (Adoptium Temurin)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0" y="1389888"/>
            <a:ext cx="3931920" cy="2971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Eclipse </a:t>
            </a:r>
            <a:r>
              <a:rPr lang="en-US" sz="1150" b="1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Temurin</a:t>
            </a: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JDK 21 LTS</a:t>
            </a:r>
            <a:endParaRPr lang="en-US" sz="1150" dirty="0"/>
          </a:p>
          <a:p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from adoptium.net 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JDK 21?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LTS (Long Term Support) release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Switch expressions (used in RoomFactory)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 blocks (used in ConsoleUI menus)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Record types for test fixtures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installation: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-version  →  </a:t>
            </a:r>
            <a:r>
              <a:rPr lang="en-US" sz="1150" dirty="0" err="1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openjdk</a:t>
            </a: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82880" y="4617720"/>
            <a:ext cx="8686800" cy="20116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4626864"/>
            <a:ext cx="8503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Install JDK 21 → Install VS Code → Install Extension Pack for Java → Open SCMS_Project folder → Click ▶ Run on Main.java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 Overview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4592" y="1005840"/>
            <a:ext cx="1371600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" y="1005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627632" y="1005840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737360" y="10058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64592" y="1572768"/>
            <a:ext cx="1371600" cy="45720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64592" y="157276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Layer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627632" y="1572768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737360" y="157276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CampusFacade  ←  Facade Pattern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64592" y="2139696"/>
            <a:ext cx="13716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64592" y="213969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627632" y="2139696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737360" y="2139696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UserService  |  RoomService  |  BookingService  |  MaintenanceService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164592" y="2706624"/>
            <a:ext cx="137160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64592" y="270662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Layer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627632" y="2706624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737360" y="2706624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(Singleton+Observer)  |  RoomFactory (Factory)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64592" y="3273552"/>
            <a:ext cx="13716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64592" y="327355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Layer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627632" y="3273552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737360" y="327355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 |  Admin  |  Staff  |  Student  |  Room  |  Booking  |  MaintenanceRequest  |  Notification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164592" y="3840480"/>
            <a:ext cx="1371600" cy="45720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64592" y="38404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Layer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627632" y="3840480"/>
            <a:ext cx="7269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1C1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737360" y="384048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RoomAlreadyBookedException  |  UnauthorizedActionException  |  DuplicateEntityException  |  EntityNotFoundException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64592" y="4407408"/>
            <a:ext cx="8732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Key:  User △── Admin/Staff/Student (Inheritance)  |  CampusFacade──&gt;Services (Composition)  |  ConsoleUI implements NotificationObserver (Interface)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 in SCMS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forms of polymorphism applied throughout the system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" y="1353312"/>
            <a:ext cx="416052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28600" y="1353312"/>
            <a:ext cx="416052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1353312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Inheritance Polymorphism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" y="1737360"/>
            <a:ext cx="3977640" cy="2871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 User  declares: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getPermissionSummary()  [abstract]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 →  "Manage rooms, users..."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 →  "Book rooms, report issues..."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→  "View rooms, request bookings..."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CampusFacade accepts a User reference at runtime — correct subtype resolved automatically. Implemented in VS Code, compiled with JDK 21 switch expressions.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353312"/>
            <a:ext cx="4297680" cy="3310128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17720" y="1353312"/>
            <a:ext cx="42976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1353312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Interface Polymorphism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09160" y="1737360"/>
            <a:ext cx="4114800" cy="2871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 NotificationObserver: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onNotification(Notification n)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  implements this interface.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  holds: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List&lt;NotificationObserver&gt;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call  notify()  — ConsoleUI.onNotification() dispatched at runtime. Neither service knows about ConsoleUI directly.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Implemented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pattern from each GoF category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82880" y="1371600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" y="1371600"/>
            <a:ext cx="4251960" cy="34747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4320" y="13716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  ›  Singleton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" y="17556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NotificationService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202996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one shared notification hub. Multiple instances would break the observer registry and split the inbox.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6366F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1371600"/>
            <a:ext cx="4251960" cy="34747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54880" y="13716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CREATIONAL  ›  Factory Method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175564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RoomFactory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02996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Rooms pre-configured with the correct equipment per type (LECTURE_HALL, COMPUTER_LAB, etc.).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" y="3063240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182880" y="3063240"/>
            <a:ext cx="42519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0632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 ›  Facade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74320" y="344728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CampusFacade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72160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API to 4 subsystems. The UI only calls CampusFacade. Role-based access enforced in requireAdmin().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063240"/>
            <a:ext cx="42519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42519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30632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BEHAVIOURAL  ›  Observer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54880" y="3447288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NotificationObserver + NotificationService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754880" y="3721608"/>
            <a:ext cx="4069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notification producers (services) from consumers (ConsoleUI). Services call notify() blindly.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 – Code Walk-Through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– NotificationService.getInstance()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252728"/>
            <a:ext cx="5029200" cy="111556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289304"/>
            <a:ext cx="48463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static NotificationService instance;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NotificationService getInstance()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(instance == null)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instance = new NotificationService();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instance;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28600" y="257860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– notify() dispatches to registered observers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28600" y="2871216"/>
            <a:ext cx="5029200" cy="111556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907792"/>
            <a:ext cx="484632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Notification notify(String userId, String msg)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Notification n = new Notification(userId, msg);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inbox.get(userId).add(n);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observers.get(userId).forEach(o -&gt; o.onNotification(n));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n;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40680" y="960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Facade – requireAdmin() guard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40680" y="1252728"/>
            <a:ext cx="3474720" cy="111556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532120" y="1289304"/>
            <a:ext cx="32918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void requireAdmin(User caller)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throws UnauthorizedActionException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(caller.getRole() != UserRole.ADMIN)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throw new UnauthorizedActionException(...);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40680" y="25786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– JDK 21 switch expression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40680" y="2871216"/>
            <a:ext cx="3474720" cy="1115568"/>
          </a:xfrm>
          <a:prstGeom prst="rect">
            <a:avLst/>
          </a:prstGeom>
          <a:solidFill>
            <a:srgbClr val="1E1E2E"/>
          </a:solidFill>
          <a:ln w="12700">
            <a:solidFill>
              <a:srgbClr val="3333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32120" y="2907792"/>
            <a:ext cx="3291840" cy="10424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static Room create(RoomType type,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String id, String name, int cap) {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switch(type) {  // JDK 21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LECTURE_HALL -&gt; new Room(id, name,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cap, List.of("Projector",...));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};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6E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8600" y="4279392"/>
            <a:ext cx="8686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In VS Code: open each class → the ▶ Run button appears above main(). Use Explorer panel to navigate packages.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 Strategy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Custom Checked Exception Classes — targeted, meaningful error handling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1371600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" y="1371600"/>
            <a:ext cx="365760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8368" y="1417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F444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RoomAlreadyBookedException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" y="17099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New booking overlaps existing CONFIRMED booking for same room/time   |   Example: Book R101 09:00-11:00 when 10:00-12:00 already exists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82880" y="2176272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82880" y="2176272"/>
            <a:ext cx="365760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2219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973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UnauthorizedActionException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58368" y="2514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Non-admin user attempts admin-only operation   |   Example: Student calls facade.addRoom() — fixed in ConsoleUI.java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82880" y="2980944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AB30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82880" y="2980944"/>
            <a:ext cx="365760" cy="713232"/>
          </a:xfrm>
          <a:prstGeom prst="rect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58368" y="30266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B3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DuplicateEntityException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8368" y="33192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Room ID or user email already registered in the system   |   Example: Admin adds Room 'R101' when R101 already exists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82880" y="3785616"/>
            <a:ext cx="87782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82880" y="3785616"/>
            <a:ext cx="365760" cy="713232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" y="38313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472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EntityNotFoundException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" y="4123944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Referenced entity (room/booking/user/request) does not exist   |   Example: Booking with unknown Room ID 'R999'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28600" y="4645152"/>
            <a:ext cx="8686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Bug fixed: ConsoleUI adminAddRoom() signature corrected — DuplicateEntityException now handled internally  ✔  IllegalArgumentException for invalid time windows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 Overview – 15 Test Cases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6358864"/>
              </p:ext>
            </p:extLst>
          </p:nvPr>
        </p:nvGraphicFramePr>
        <p:xfrm>
          <a:off x="109728" y="656844"/>
          <a:ext cx="9034271" cy="3901440"/>
        </p:xfrm>
        <a:graphic>
          <a:graphicData uri="http://schemas.openxmlformats.org/drawingml/2006/table">
            <a:tbl>
              <a:tblPr/>
              <a:tblGrid>
                <a:gridCol w="756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15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807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554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Successful room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Double-booking prevention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Non-overlapping bookings succeed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cancels own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deactivated room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TC06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lifecycle PENDING→DONE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TC07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 confirmation 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TC08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 assignment 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TC09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adds room (intentional fail)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TC10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Room ID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TC11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login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TC12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Non-owner cancel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TC13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 cancels any 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TC14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RoomFactory equipment check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867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TC15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time window rejected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D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9728" y="4622292"/>
            <a:ext cx="8778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TC09 intentionally fails — proves UnauthorizedActionException guard works. Run: java -cp out scms.test.TestRunner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Analysis &amp; Error Discussion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182880" y="914400"/>
          <a:ext cx="36576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023360" y="914400"/>
          <a:ext cx="48920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 6"/>
          <p:cNvSpPr/>
          <p:nvPr/>
        </p:nvSpPr>
        <p:spPr>
          <a:xfrm>
            <a:off x="182880" y="4251960"/>
            <a:ext cx="87782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TC09 analysis: assertDoesNotThrow() was intentionally called on facade.addRoom(student,...). The Facade's requireAdmin() always throws UnauthorizedActionException for non-admin users — so the test fails, proving the security guard works. This technique tests negative behaviour.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Fix, Limitations &amp; Future Improvements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283464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Bug Fixed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" y="137160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F444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92608" y="1444752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ConsoleUI.adminAddRoom() declared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'throws DuplicateEntityException'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caller catch block didn't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it → compile error in VS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Removed from method signature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it was already caught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internally with try/catch.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Java forces all checked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 to be handled — VS Code</a:t>
            </a:r>
            <a:endParaRPr lang="en-US" sz="1100" dirty="0"/>
          </a:p>
          <a:p>
            <a:pPr>
              <a:buSzPct val="100000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and JDK 21 surface these clearly.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960120"/>
            <a:ext cx="2834640" cy="38404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46120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Known Limitations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172968" y="137160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82696" y="1444752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in-memory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persistence between runs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UI only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graphical interface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recurring booking support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 feature not built)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not thread-safe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(single-threaded application)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input validation middleware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exception throwing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3056" y="960120"/>
            <a:ext cx="2834640" cy="384048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36208" y="96012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Future Improvements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63056" y="1371600"/>
            <a:ext cx="28346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4472C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72784" y="1444752"/>
            <a:ext cx="2651760" cy="3337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CSV/database persistence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GUI using VS Code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JavaFX extension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bookings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Strategy pattern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pattern for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undo/redo of bookings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Thread-safe Singleton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enum pattern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– VS Code Walk-Through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28600" y="96012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 this order — switch between VS Code Explorer, Terminal, and the running console: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1408176"/>
            <a:ext cx="347472" cy="34747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82880" y="1408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353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Structure: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06040" y="1353312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Code → Explorer panel → show 25 .java files across 7 packages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82880" y="1865376"/>
            <a:ext cx="347472" cy="34747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" y="1865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1810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App: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06040" y="1810512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▶ Run on Main.java → login: alice@cardiffmet.ac.uk / admin123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82880" y="2322576"/>
            <a:ext cx="347472" cy="34747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82880" y="2322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Room: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2267712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bob@cardiffmet.ac.uk → Option 2 → R101 → 2025-09-01 09:00 → 11:00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82880" y="2779776"/>
            <a:ext cx="347472" cy="347472"/>
          </a:xfrm>
          <a:prstGeom prst="ellipse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" y="27797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27249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D8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Double-Booking Error: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606040" y="2724912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R101 same time again → show RoomAlreadyBookedException error message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82880" y="3236976"/>
            <a:ext cx="347472" cy="34747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2880" y="32369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182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Flow: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606040" y="3182112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issue → login as Admin → assign it → complete it → show notifications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82880" y="3694176"/>
            <a:ext cx="347472" cy="34747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82880" y="36941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36393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Runner: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606040" y="3639312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Terminal → java -cp out scms.test.TestRunner → 14 PASS 1 FAIL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182880" y="4151376"/>
            <a:ext cx="347472" cy="34747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182880" y="41513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40965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Bug Fix: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606040" y="4096512"/>
            <a:ext cx="6355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ConsoleUI.java → line 122 → explain the DuplicateEntityException fix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109728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– OOP Techniques &amp; Lessons Learned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046720" y="109728"/>
            <a:ext cx="1005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82880" y="4864608"/>
            <a:ext cx="8778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82880" y="960120"/>
            <a:ext cx="4251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182880" y="960120"/>
            <a:ext cx="4251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Learned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" y="1344168"/>
            <a:ext cx="4069080" cy="3218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Patterns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GoF patterns in a real system made their value clear — the Facade dramatically simplified the UI layer and centralised access control.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Pattern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Seeing notifications fire automatically when a booking was confirmed — without the booking code knowing about the UI — made the concept click.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21 Features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switch expressions in RoomFactory and text blocks in ConsoleUI showed how modern Java features improve readability and reduce boilerplate.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Hierarchy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custom exceptions taught how meaningful error messages improve debugging and user experience — and VS Code's compiler surfaced the missing handler immediately.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25196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960120"/>
            <a:ext cx="425196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754880" y="96012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 Challenging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1344168"/>
            <a:ext cx="4069080" cy="3218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 Thread Safety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why a null-check Singleton is not thread-safe was challenging. Enum-based or double-checked locking patterns would be needed in production.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Design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TC09 as an intentional failure required thinking in reverse — proving a negative. Designing tests that validate what the system rejects was a new concept.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Keeping business logic out of ConsoleUI required constant discipline. The bug fix — where DuplicateEntityException leaked into the UI layer — was a real-world example of this challenge.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Setup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Configuring the Extension Pack for Java and ensuring JDK 21 was on PATH required careful setup but VS Code detected the JDK automatically after installation.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2286000"/>
            <a:ext cx="4572000" cy="4572000"/>
          </a:xfrm>
          <a:prstGeom prst="ellipse">
            <a:avLst/>
          </a:prstGeom>
          <a:solidFill>
            <a:srgbClr val="4472C4">
              <a:alpha val="25000"/>
            </a:srgbClr>
          </a:solidFill>
          <a:ln w="12700">
            <a:solidFill>
              <a:srgbClr val="4472C4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594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Campus Management System – SCMS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828800" cy="438912"/>
          </a:xfrm>
          <a:prstGeom prst="rect">
            <a:avLst/>
          </a:prstGeom>
          <a:solidFill>
            <a:srgbClr val="007ACC"/>
          </a:solidFill>
          <a:ln w="12700">
            <a:solidFill>
              <a:srgbClr val="007A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94360" y="21214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⬛  VS Code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514600" y="2103120"/>
            <a:ext cx="1828800" cy="438912"/>
          </a:xfrm>
          <a:prstGeom prst="rect">
            <a:avLst/>
          </a:prstGeom>
          <a:solidFill>
            <a:srgbClr val="ED8B00"/>
          </a:solidFill>
          <a:ln w="12700">
            <a:solidFill>
              <a:srgbClr val="ED8B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21214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 JDK 21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265176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Java classes  |  4 Design Patterns  |  15 Unit Tests  |  14 Passing
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Principles: Abstraction · Encapsulation · Inheritance · Polymorphism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" y="4498848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CMP7001 Advanced Programming  |  Cardiff Metropolitan University  |  PRES1  |  April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10589</TotalTime>
  <Words>2049</Words>
  <Application>Microsoft Office PowerPoint</Application>
  <PresentationFormat>On-screen Show (16:9)</PresentationFormat>
  <Paragraphs>386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Campus Management System – CMP7001 PRES1</dc:title>
  <dc:subject>PptxGenJS Presentation</dc:subject>
  <dc:creator>PptxGenJS</dc:creator>
  <cp:lastModifiedBy>Nadishika Lakmini</cp:lastModifiedBy>
  <cp:revision>9</cp:revision>
  <dcterms:created xsi:type="dcterms:W3CDTF">2026-04-06T03:19:26Z</dcterms:created>
  <dcterms:modified xsi:type="dcterms:W3CDTF">2026-04-18T05:29:56Z</dcterms:modified>
</cp:coreProperties>
</file>